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D1C19-F657-CEA4-4DA7-70494AF09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903" y="462587"/>
            <a:ext cx="8689976" cy="2509213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accent1">
                    <a:lumMod val="75000"/>
                  </a:schemeClr>
                </a:solidFill>
              </a:rPr>
              <a:t>Development Of A Clinical Decision-support And Self-management System For Patients With Diabetes Mellitus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25AA3-CE2B-EFE4-4EE9-656D7BE01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106757"/>
            <a:ext cx="8689976" cy="2849726"/>
          </a:xfrm>
        </p:spPr>
        <p:txBody>
          <a:bodyPr>
            <a:normAutofit fontScale="32500" lnSpcReduction="20000"/>
          </a:bodyPr>
          <a:lstStyle/>
          <a:p>
            <a:pPr algn="just">
              <a:spcBef>
                <a:spcPts val="600"/>
              </a:spcBef>
            </a:pPr>
            <a:r>
              <a:rPr lang="en-US" sz="6200" b="1" dirty="0">
                <a:solidFill>
                  <a:schemeClr val="tx1"/>
                </a:solidFill>
              </a:rPr>
              <a:t>Subtitle:</a:t>
            </a:r>
            <a:r>
              <a:rPr lang="en-US" sz="6200" dirty="0">
                <a:solidFill>
                  <a:schemeClr val="tx1"/>
                </a:solidFill>
              </a:rPr>
              <a:t> Academic Feasibility Study &amp; System Architecture</a:t>
            </a:r>
          </a:p>
          <a:p>
            <a:pPr algn="just">
              <a:spcBef>
                <a:spcPts val="600"/>
              </a:spcBef>
            </a:pPr>
            <a:r>
              <a:rPr lang="en-US" sz="6200" b="1" dirty="0">
                <a:solidFill>
                  <a:schemeClr val="tx1"/>
                </a:solidFill>
              </a:rPr>
              <a:t>CASE STUDY: </a:t>
            </a:r>
            <a:r>
              <a:rPr lang="en-US" sz="6200" dirty="0">
                <a:solidFill>
                  <a:schemeClr val="tx1"/>
                </a:solidFill>
              </a:rPr>
              <a:t>SIR ALBERT COOK HOSPITAL,SENTEMA ROAD ,KAMPALA UGANDA</a:t>
            </a:r>
          </a:p>
          <a:p>
            <a:pPr algn="just">
              <a:spcBef>
                <a:spcPts val="600"/>
              </a:spcBef>
            </a:pPr>
            <a:r>
              <a:rPr lang="en-US" sz="6200" b="1" dirty="0">
                <a:solidFill>
                  <a:schemeClr val="tx1"/>
                </a:solidFill>
              </a:rPr>
              <a:t>Presenter: </a:t>
            </a:r>
            <a:r>
              <a:rPr lang="en-US" sz="6200" dirty="0">
                <a:solidFill>
                  <a:schemeClr val="tx1"/>
                </a:solidFill>
              </a:rPr>
              <a:t>ALABA RITA SOPHIE </a:t>
            </a:r>
          </a:p>
          <a:p>
            <a:pPr lvl="0" algn="just">
              <a:spcBef>
                <a:spcPts val="600"/>
              </a:spcBef>
            </a:pPr>
            <a:r>
              <a:rPr lang="en-US" sz="6200" b="1" dirty="0">
                <a:solidFill>
                  <a:schemeClr val="tx1"/>
                </a:solidFill>
              </a:rPr>
              <a:t>Program:</a:t>
            </a:r>
            <a:r>
              <a:rPr lang="en-US" sz="6200" dirty="0">
                <a:solidFill>
                  <a:schemeClr val="tx1"/>
                </a:solidFill>
              </a:rPr>
              <a:t> Diploma in Software Engineering  </a:t>
            </a:r>
          </a:p>
          <a:p>
            <a:pPr lvl="0" algn="just">
              <a:spcBef>
                <a:spcPts val="600"/>
              </a:spcBef>
            </a:pPr>
            <a:r>
              <a:rPr lang="en-US" sz="6200" b="1" dirty="0">
                <a:solidFill>
                  <a:schemeClr val="tx1"/>
                </a:solidFill>
              </a:rPr>
              <a:t>Institution:</a:t>
            </a:r>
            <a:r>
              <a:rPr lang="en-US" sz="6200" dirty="0">
                <a:solidFill>
                  <a:schemeClr val="tx1"/>
                </a:solidFill>
              </a:rPr>
              <a:t> ISBAT University, Kampala  </a:t>
            </a:r>
          </a:p>
          <a:p>
            <a:pPr lvl="0" algn="just">
              <a:spcBef>
                <a:spcPts val="600"/>
              </a:spcBef>
            </a:pPr>
            <a:r>
              <a:rPr lang="en-US" sz="6200" b="1" dirty="0">
                <a:solidFill>
                  <a:schemeClr val="tx1"/>
                </a:solidFill>
              </a:rPr>
              <a:t>SUPERVISOR</a:t>
            </a:r>
            <a:r>
              <a:rPr lang="en-US" sz="6200" dirty="0">
                <a:solidFill>
                  <a:schemeClr val="tx1"/>
                </a:solidFill>
              </a:rPr>
              <a:t>: MR.TOBIAS KAKOOZA</a:t>
            </a:r>
          </a:p>
          <a:p>
            <a:pPr lvl="0" algn="just">
              <a:spcBef>
                <a:spcPts val="600"/>
              </a:spcBef>
            </a:pPr>
            <a:r>
              <a:rPr lang="en-US" sz="6200" b="1" dirty="0">
                <a:solidFill>
                  <a:schemeClr val="tx1"/>
                </a:solidFill>
              </a:rPr>
              <a:t>Academic Year:</a:t>
            </a:r>
            <a:r>
              <a:rPr lang="en-US" sz="6200" dirty="0">
                <a:solidFill>
                  <a:schemeClr val="tx1"/>
                </a:solidFill>
              </a:rPr>
              <a:t> 2025 / 2026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63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BC979-BEDD-906D-67A0-559E2233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144182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Statement of the Problem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ABB4F-83EB-C036-855B-83018F8A49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961002"/>
            <a:ext cx="10363826" cy="4583017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US" sz="3800" b="1" dirty="0"/>
              <a:t>Incomplete Patient Logs:</a:t>
            </a:r>
            <a:r>
              <a:rPr lang="en-US" sz="3800" dirty="0"/>
              <a:t> </a:t>
            </a:r>
            <a:r>
              <a:rPr lang="en-US" sz="3800" cap="none" dirty="0"/>
              <a:t>Patients heavily rely on memory or paper logbooks, leading to missing timestamps, illegible entries, and unreliable history during clinic visits.</a:t>
            </a:r>
          </a:p>
          <a:p>
            <a:pPr lvl="0"/>
            <a:r>
              <a:rPr lang="en-US" sz="3800" b="1" dirty="0"/>
              <a:t>Delayed Triage &amp; Clinical Overhead:</a:t>
            </a:r>
            <a:r>
              <a:rPr lang="en-US" sz="3800" dirty="0"/>
              <a:t> </a:t>
            </a:r>
            <a:r>
              <a:rPr lang="en-US" sz="3800" cap="none" dirty="0"/>
              <a:t>Clinicians lose consultation time manually reviewing fragmented paper records rather than focusing on patient care.</a:t>
            </a:r>
          </a:p>
          <a:p>
            <a:pPr lvl="0"/>
            <a:r>
              <a:rPr lang="en-US" sz="3800" b="1" dirty="0"/>
              <a:t>Unnoticed Dangerous Trends:</a:t>
            </a:r>
            <a:r>
              <a:rPr lang="en-US" sz="3800" dirty="0"/>
              <a:t> </a:t>
            </a:r>
            <a:r>
              <a:rPr lang="en-US" sz="3800" cap="none" dirty="0"/>
              <a:t>Without real-time automated alerts, critical hypoglycemic or hyper-glycemic episodes go undetected between routine hospital appointments.</a:t>
            </a:r>
            <a:endParaRPr lang="en-US" sz="3800" dirty="0"/>
          </a:p>
          <a:p>
            <a:pPr lvl="0"/>
            <a:r>
              <a:rPr lang="en-US" sz="3800" b="1" dirty="0"/>
              <a:t>Prescribing Risks:</a:t>
            </a:r>
            <a:r>
              <a:rPr lang="en-US" sz="3800" dirty="0"/>
              <a:t> </a:t>
            </a:r>
            <a:r>
              <a:rPr lang="en-US" sz="3800" cap="none" dirty="0"/>
              <a:t>Absence of real-time clinical decision-support increases the risk of dosage errors, drug-allergy conflicts, or prescribing without verified vital signs.</a:t>
            </a:r>
          </a:p>
          <a:p>
            <a:pPr lvl="0"/>
            <a:r>
              <a:rPr lang="en-US" sz="3800" b="1" dirty="0"/>
              <a:t>Data Disconnect:</a:t>
            </a:r>
            <a:r>
              <a:rPr lang="en-US" sz="3800" dirty="0"/>
              <a:t> </a:t>
            </a:r>
            <a:r>
              <a:rPr lang="en-US" sz="3800" cap="none" dirty="0"/>
              <a:t>Lack of a centralized digital link between patient home monitoring and doctor-side clinical triage.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59476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6D1A-F2FB-3039-835B-56EEF523EA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5934075" cy="757238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Database 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20D22-504B-07E6-FEA9-779E2C19E86A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719263"/>
            <a:ext cx="5934075" cy="489108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graph TD</a:t>
            </a:r>
          </a:p>
          <a:p>
            <a:r>
              <a:rPr lang="en-US" b="1" dirty="0"/>
              <a:t>    CLINICIAN[CLINICIAN]</a:t>
            </a:r>
          </a:p>
          <a:p>
            <a:r>
              <a:rPr lang="en-US" b="1" dirty="0"/>
              <a:t>    PATIENT[PATIENT]</a:t>
            </a:r>
          </a:p>
          <a:p>
            <a:r>
              <a:rPr lang="en-US" b="1" dirty="0"/>
              <a:t>    READING[GLUCOSE READING]</a:t>
            </a:r>
          </a:p>
          <a:p>
            <a:r>
              <a:rPr lang="en-US" b="1" dirty="0"/>
              <a:t>    ALERT[CLINICAL ALERT]</a:t>
            </a:r>
          </a:p>
          <a:p>
            <a:r>
              <a:rPr lang="en-US" b="1" dirty="0"/>
              <a:t>    PRESCRIPTION[PRESCRIPTION]</a:t>
            </a:r>
          </a:p>
          <a:p>
            <a:endParaRPr lang="en-US" b="1" dirty="0"/>
          </a:p>
          <a:p>
            <a:r>
              <a:rPr lang="en-US" b="1" dirty="0"/>
              <a:t>    CLINICIAN -- "1 : M (monitors)" --&gt; PATIENT</a:t>
            </a:r>
          </a:p>
          <a:p>
            <a:r>
              <a:rPr lang="en-US" b="1" dirty="0"/>
              <a:t>    PATIENT -- "1 : M (logs)" --&gt; READING</a:t>
            </a:r>
          </a:p>
          <a:p>
            <a:r>
              <a:rPr lang="en-US" b="1" dirty="0"/>
              <a:t>    READING -- “M :1 (triggers)" --&gt; ALERT</a:t>
            </a:r>
          </a:p>
          <a:p>
            <a:r>
              <a:rPr lang="en-US" b="1" dirty="0"/>
              <a:t>    CLINICIAN -- "1 : M (reviews)" --&gt; ALERT</a:t>
            </a:r>
          </a:p>
          <a:p>
            <a:r>
              <a:rPr lang="en-US" b="1" dirty="0"/>
              <a:t>    CLINICIAN -- "1 : M (issues)" --&gt; PRESCRIPTION</a:t>
            </a:r>
          </a:p>
          <a:p>
            <a:r>
              <a:rPr lang="en-US" b="1" dirty="0"/>
              <a:t>    PATIENT -- "1 : M (receives)" --&gt; PRESCRIPTION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4D6E9D6-BC31-01BA-7113-77953CBF01EC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405" r="-1077"/>
          <a:stretch>
            <a:fillRect/>
          </a:stretch>
        </p:blipFill>
        <p:spPr>
          <a:xfrm>
            <a:off x="4735629" y="1366838"/>
            <a:ext cx="7199697" cy="50990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5142840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692F-3228-40C0-1523-F77471E2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4587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Projected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2F3D2-8EA4-3964-1DCB-10924C662B1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685581"/>
            <a:ext cx="5106026" cy="47871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chemeClr val="accent1"/>
                </a:solidFill>
              </a:rPr>
              <a:t>In-Scope (System Capabilities)</a:t>
            </a:r>
            <a:endParaRPr lang="en-US" sz="2300" dirty="0">
              <a:solidFill>
                <a:schemeClr val="accent1"/>
              </a:solidFill>
            </a:endParaRPr>
          </a:p>
          <a:p>
            <a:pPr lvl="0"/>
            <a:r>
              <a:rPr lang="en-US" sz="2300" b="1" dirty="0"/>
              <a:t>Patient Module:</a:t>
            </a:r>
            <a:r>
              <a:rPr lang="en-US" sz="2300" dirty="0"/>
              <a:t> </a:t>
            </a:r>
            <a:r>
              <a:rPr lang="en-US" sz="2300" cap="none" dirty="0"/>
              <a:t>Mobile/web interface for logging blood glucose, meal context (fasting, post-meal), symptoms, and viewing visual trends. </a:t>
            </a:r>
          </a:p>
          <a:p>
            <a:pPr lvl="0"/>
            <a:r>
              <a:rPr lang="en-US" sz="2300" b="1" dirty="0"/>
              <a:t>Clinician Triage Dashboard:</a:t>
            </a:r>
            <a:r>
              <a:rPr lang="en-US" sz="2300" dirty="0"/>
              <a:t> </a:t>
            </a:r>
            <a:r>
              <a:rPr lang="en-US" sz="2300" cap="none" dirty="0"/>
              <a:t>Real-time risk prioritization (low / moderate / high / critical), historical patient trends, and prescription management.</a:t>
            </a:r>
          </a:p>
          <a:p>
            <a:pPr lvl="0"/>
            <a:r>
              <a:rPr lang="en-US" sz="2400" b="1" dirty="0"/>
              <a:t>CLINICAL DECISION-SUPPORT ENGINE:</a:t>
            </a:r>
            <a:r>
              <a:rPr lang="en-US" sz="2400" dirty="0"/>
              <a:t> </a:t>
            </a:r>
            <a:r>
              <a:rPr lang="en-US" sz="2400" cap="none" dirty="0"/>
              <a:t>Automated rule checking (e.g., Glucose &lt; 70 mg/dl or &gt; 180 mg/dl, BP &gt; 160/100 </a:t>
            </a:r>
            <a:r>
              <a:rPr lang="en-US" sz="2400" cap="none" dirty="0" err="1"/>
              <a:t>mmhg</a:t>
            </a:r>
            <a:r>
              <a:rPr lang="en-US" sz="2400" cap="none" dirty="0"/>
              <a:t>) and data reliability scoring.</a:t>
            </a:r>
          </a:p>
          <a:p>
            <a:pPr lvl="0"/>
            <a:r>
              <a:rPr lang="en-US" sz="2300" b="1" dirty="0"/>
              <a:t>Workflow Enforcement</a:t>
            </a:r>
            <a:r>
              <a:rPr lang="en-US" sz="2300" b="1" cap="none" dirty="0"/>
              <a:t>:</a:t>
            </a:r>
            <a:r>
              <a:rPr lang="en-US" sz="2300" cap="none" dirty="0"/>
              <a:t> Blocks prescription generation until nurse-recorded vitals are submitted.</a:t>
            </a:r>
          </a:p>
          <a:p>
            <a:pPr lvl="0"/>
            <a:r>
              <a:rPr lang="en-US" sz="2300" b="1" dirty="0"/>
              <a:t>Security &amp; Governance:</a:t>
            </a:r>
            <a:r>
              <a:rPr lang="en-US" sz="2300" dirty="0"/>
              <a:t> </a:t>
            </a:r>
            <a:r>
              <a:rPr lang="en-US" sz="2300" cap="none" dirty="0"/>
              <a:t>Role-based access control (RBAC) and immutable, timestamped audit logging for system edits. 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9FDC2-143C-F036-8B95-4E86F48D5A4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2200" y="1685582"/>
            <a:ext cx="5105400" cy="4105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Out-of-Scope (Future Phases)</a:t>
            </a:r>
            <a:endParaRPr lang="en-US" dirty="0">
              <a:solidFill>
                <a:schemeClr val="accent1"/>
              </a:solidFill>
            </a:endParaRPr>
          </a:p>
          <a:p>
            <a:pPr lvl="0"/>
            <a:r>
              <a:rPr lang="en-US" cap="none" dirty="0"/>
              <a:t>Direct hardware-level </a:t>
            </a:r>
            <a:r>
              <a:rPr lang="en-US" cap="none" dirty="0" err="1"/>
              <a:t>bluetooth</a:t>
            </a:r>
            <a:r>
              <a:rPr lang="en-US" cap="none" dirty="0"/>
              <a:t> pairing with proprietary glucometers (phase 1 uses manual entry).</a:t>
            </a:r>
          </a:p>
          <a:p>
            <a:pPr lvl="0"/>
            <a:r>
              <a:rPr lang="en-US" cap="none" dirty="0"/>
              <a:t>Fully automated insulin pump delivery control.</a:t>
            </a:r>
          </a:p>
          <a:p>
            <a:pPr lvl="0"/>
            <a:r>
              <a:rPr lang="en-US" cap="none" dirty="0"/>
              <a:t>Third-party insurance claims and billing software integration.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15785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BEF4-89DD-8F1C-8572-DEFD26C0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1186"/>
            <a:ext cx="10364451" cy="683045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Output from the Feasibility Study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7E4CAE9-84F4-94CE-B02A-540D668A252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003191129"/>
              </p:ext>
            </p:extLst>
          </p:nvPr>
        </p:nvGraphicFramePr>
        <p:xfrm>
          <a:off x="365760" y="731520"/>
          <a:ext cx="11454063" cy="60588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18021">
                  <a:extLst>
                    <a:ext uri="{9D8B030D-6E8A-4147-A177-3AD203B41FA5}">
                      <a16:colId xmlns:a16="http://schemas.microsoft.com/office/drawing/2014/main" val="804526053"/>
                    </a:ext>
                  </a:extLst>
                </a:gridCol>
                <a:gridCol w="3818021">
                  <a:extLst>
                    <a:ext uri="{9D8B030D-6E8A-4147-A177-3AD203B41FA5}">
                      <a16:colId xmlns:a16="http://schemas.microsoft.com/office/drawing/2014/main" val="3752972751"/>
                    </a:ext>
                  </a:extLst>
                </a:gridCol>
                <a:gridCol w="3818021">
                  <a:extLst>
                    <a:ext uri="{9D8B030D-6E8A-4147-A177-3AD203B41FA5}">
                      <a16:colId xmlns:a16="http://schemas.microsoft.com/office/drawing/2014/main" val="1046806613"/>
                    </a:ext>
                  </a:extLst>
                </a:gridCol>
              </a:tblGrid>
              <a:tr h="3574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Feasibility Domain</a:t>
                      </a:r>
                      <a:endParaRPr lang="en-US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Findings &amp; Data Points</a:t>
                      </a:r>
                      <a:endParaRPr lang="en-US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Status</a:t>
                      </a:r>
                      <a:endParaRPr lang="en-US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extLst>
                  <a:ext uri="{0D108BD9-81ED-4DB2-BD59-A6C34878D82A}">
                    <a16:rowId xmlns:a16="http://schemas.microsoft.com/office/drawing/2014/main" val="1841787771"/>
                  </a:ext>
                </a:extLst>
              </a:tr>
              <a:tr h="18572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Economic Feasibility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Built using a cost-effective, open-source technology stack (PHP/MySQL) with zero expensive software licensing fees. It leverages existing hospital desktop computers and patient smartphones, yielding a high return on investment (ROI) by reducing manual triage time and costly emergency hospitalizations from unmanaged diabetes complications.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Feasible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extLst>
                  <a:ext uri="{0D108BD9-81ED-4DB2-BD59-A6C34878D82A}">
                    <a16:rowId xmlns:a16="http://schemas.microsoft.com/office/drawing/2014/main" val="2146269075"/>
                  </a:ext>
                </a:extLst>
              </a:tr>
              <a:tr h="10019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Operational Feasibility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100% of clinicians and nurses confirmed that automated threshold alerts, allergy checking, and pre-prescription vital sign enforcement would significantly improve clinical safety. 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Feasible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extLst>
                  <a:ext uri="{0D108BD9-81ED-4DB2-BD59-A6C34878D82A}">
                    <a16:rowId xmlns:a16="http://schemas.microsoft.com/office/drawing/2014/main" val="1548435656"/>
                  </a:ext>
                </a:extLst>
              </a:tr>
              <a:tr h="9994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Technical Feasibility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Existing hospital infrastructure (desktop computers, Wi-Fi network, basic digital literacy) is sufficient to deploy web/desktop-based interfaces. 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Feasible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extLst>
                  <a:ext uri="{0D108BD9-81ED-4DB2-BD59-A6C34878D82A}">
                    <a16:rowId xmlns:a16="http://schemas.microsoft.com/office/drawing/2014/main" val="1846820698"/>
                  </a:ext>
                </a:extLst>
              </a:tr>
              <a:tr h="10019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Workflow Need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Over 80% of clinical staff report encountering missing visit history or delayed vitals during peak hours, validating the need for direct digital handover. 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Feasible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extLst>
                  <a:ext uri="{0D108BD9-81ED-4DB2-BD59-A6C34878D82A}">
                    <a16:rowId xmlns:a16="http://schemas.microsoft.com/office/drawing/2014/main" val="2705176548"/>
                  </a:ext>
                </a:extLst>
              </a:tr>
              <a:tr h="7871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Organizational Support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Hospital administration confirmed willingness to participate in prototype testing using sample datasets. 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Feasible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555" marR="66555" marT="44370" marB="44370" anchor="ctr"/>
                </a:tc>
                <a:extLst>
                  <a:ext uri="{0D108BD9-81ED-4DB2-BD59-A6C34878D82A}">
                    <a16:rowId xmlns:a16="http://schemas.microsoft.com/office/drawing/2014/main" val="2668981035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CD1A056-71C7-E591-A720-19035C37C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374455" y="-217692"/>
            <a:ext cx="22035182" cy="674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0284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59DD-6AAE-70C1-D366-7CD7F734D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65254"/>
            <a:ext cx="10364451" cy="901548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Conclusion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0185E-6962-1E70-E03C-BE2E696045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013" y="1553378"/>
            <a:ext cx="10939748" cy="473725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/>
              <a:t>Summary:</a:t>
            </a:r>
            <a:r>
              <a:rPr lang="en-US" sz="2400" dirty="0"/>
              <a:t> </a:t>
            </a:r>
            <a:r>
              <a:rPr lang="en-US" sz="2400" cap="none" dirty="0"/>
              <a:t>The proposed clinical decision-support and self-management system solves critical gaps in diabetes management by connecting patient self-monitoring with intelligent clinical triage.</a:t>
            </a:r>
          </a:p>
          <a:p>
            <a:pPr marL="0" lvl="0" indent="0">
              <a:buNone/>
            </a:pPr>
            <a:endParaRPr lang="en-US" sz="2400" cap="none" dirty="0"/>
          </a:p>
          <a:p>
            <a:pPr marL="0" lvl="0" indent="0">
              <a:buNone/>
            </a:pPr>
            <a:r>
              <a:rPr lang="en-US" sz="2400" b="1" dirty="0"/>
              <a:t>Primary Value Delivered:</a:t>
            </a:r>
            <a:endParaRPr lang="en-US" sz="2400" dirty="0"/>
          </a:p>
          <a:p>
            <a:pPr lvl="1"/>
            <a:r>
              <a:rPr lang="en-US" sz="2400" cap="none" dirty="0"/>
              <a:t>Eliminates lost paper records and duplicate registrations.</a:t>
            </a:r>
          </a:p>
          <a:p>
            <a:pPr lvl="1"/>
            <a:r>
              <a:rPr lang="en-US" sz="2400" cap="none" dirty="0"/>
              <a:t>Reduces consultation prep time through automated trend dashboards.</a:t>
            </a:r>
          </a:p>
          <a:p>
            <a:pPr lvl="1"/>
            <a:r>
              <a:rPr lang="en-US" sz="2400" cap="none" dirty="0"/>
              <a:t>Enhances patient safety via real-time risk alerts and rule-based prescription checks. </a:t>
            </a:r>
          </a:p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42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{9B121112-C318-4A8A-A981-74623A04553B}TF62d0d592-7ac2-4846-a919-75806e8bead49553d537-f813ce055067</Template>
  <TotalTime>1219</TotalTime>
  <Words>668</Words>
  <Application>Microsoft Office PowerPoint</Application>
  <PresentationFormat>Widescreen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Tw Cen MT</vt:lpstr>
      <vt:lpstr>Droplet</vt:lpstr>
      <vt:lpstr>Development Of A Clinical Decision-support And Self-management System For Patients With Diabetes Mellitus</vt:lpstr>
      <vt:lpstr>Statement of the Problem</vt:lpstr>
      <vt:lpstr>Database  design</vt:lpstr>
      <vt:lpstr>Projected Scope</vt:lpstr>
      <vt:lpstr>Output from the Feasibility Study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</cp:revision>
  <dcterms:created xsi:type="dcterms:W3CDTF">2026-09-21T16:49:11Z</dcterms:created>
  <dcterms:modified xsi:type="dcterms:W3CDTF">2026-09-22T13:09:45Z</dcterms:modified>
</cp:coreProperties>
</file>